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4" d="100"/>
          <a:sy n="74" d="100"/>
        </p:scale>
        <p:origin x="296"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hrishtymaheshwari-afk/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4087791" cy="861497"/>
          </a:xfrm>
        </p:spPr>
        <p:txBody>
          <a:bodyPr vert="horz" lIns="91440" tIns="45720" rIns="91440" bIns="45720" rtlCol="0" anchor="t">
            <a:normAutofit fontScale="85000" lnSpcReduction="10000"/>
          </a:bodyPr>
          <a:lstStyle/>
          <a:p>
            <a:pPr algn="r"/>
            <a:r>
              <a:rPr lang="en-US" b="0" dirty="0">
                <a:solidFill>
                  <a:schemeClr val="tx1"/>
                </a:solidFill>
              </a:rPr>
              <a:t>Student Name-Shrishty Maheshwari </a:t>
            </a:r>
            <a:endParaRPr lang="en-IN" b="0" dirty="0">
              <a:solidFill>
                <a:schemeClr val="tx1"/>
              </a:solidFill>
            </a:endParaRPr>
          </a:p>
          <a:p>
            <a:pPr algn="r"/>
            <a:r>
              <a:rPr lang="en-US" b="0" dirty="0">
                <a:solidFill>
                  <a:schemeClr val="tx1"/>
                </a:solidFill>
              </a:rPr>
              <a:t>College Name- Career Point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67419" y="2844750"/>
            <a:ext cx="9859991" cy="743448"/>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3761243" cy="646331"/>
          </a:xfrm>
          <a:prstGeom prst="rect">
            <a:avLst/>
          </a:prstGeom>
          <a:noFill/>
        </p:spPr>
        <p:txBody>
          <a:bodyPr wrap="square" rtlCol="0">
            <a:spAutoFit/>
          </a:bodyPr>
          <a:lstStyle/>
          <a:p>
            <a:r>
              <a:rPr lang="en-US" b="1" dirty="0"/>
              <a:t>AICTE STU ID : </a:t>
            </a:r>
            <a:r>
              <a:rPr lang="en-IN" dirty="0"/>
              <a:t>STU69e468209d32e1776576544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1600" dirty="0"/>
              <a:t>Project Description</a:t>
            </a:r>
            <a:br>
              <a:rPr lang="en-GB" sz="1600" dirty="0"/>
            </a:br>
            <a:br>
              <a:rPr lang="en-GB" sz="1600" dirty="0"/>
            </a:br>
            <a:br>
              <a:rPr lang="en-GB" sz="1600" dirty="0"/>
            </a:br>
            <a:r>
              <a:rPr lang="en-US" sz="1800" b="0" dirty="0"/>
              <a:t>This project analyze seasonal agriculture performance dataset containing 4,000 farm records  covering environmental conditions, resource usage, and economic outcomes.</a:t>
            </a:r>
            <a:br>
              <a:rPr lang="en-US" sz="1800" b="0" dirty="0"/>
            </a:br>
            <a:br>
              <a:rPr lang="en-US" sz="1800" b="0" dirty="0"/>
            </a:br>
            <a:r>
              <a:rPr lang="en-US" sz="1800" b="0" dirty="0"/>
              <a:t>The goal is to identify how agricultural performance, yield, production, profit, and resource efficiency varies across the Kharif, Rabi, and Zaid seasons.</a:t>
            </a:r>
            <a:br>
              <a:rPr lang="en-US" sz="1800" b="0" dirty="0"/>
            </a:br>
            <a:br>
              <a:rPr lang="en-US" sz="1800" b="0" dirty="0"/>
            </a:br>
            <a:r>
              <a:rPr lang="en-US" sz="1800" b="0" dirty="0"/>
              <a:t>Using Python the dataset was cleaned, explored, and analyzed through season-wise comparisons, correlation analysis, and statistical techniques to form meaningful patterns and derive recommendations for better seasonal agricultural planning.</a:t>
            </a:r>
            <a:r>
              <a:rPr lang="en-GB" sz="1800" b="0" dirty="0"/>
              <a:t> </a:t>
            </a:r>
            <a:br>
              <a:rPr lang="en-GB" sz="1800" b="0" dirty="0"/>
            </a:br>
            <a:endParaRPr lang="en-IN" sz="18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US" sz="1600" dirty="0"/>
              <a:t>Farmers and agricultural planners - to make informed seasonal crop and resource decisions</a:t>
            </a:r>
          </a:p>
          <a:p>
            <a:pPr algn="just">
              <a:lnSpc>
                <a:spcPct val="150000"/>
              </a:lnSpc>
            </a:pPr>
            <a:r>
              <a:rPr lang="en-US" sz="1600" dirty="0"/>
              <a:t>Agricultural policy makers - for evidence based seasonal planning</a:t>
            </a:r>
          </a:p>
          <a:p>
            <a:pPr algn="just">
              <a:lnSpc>
                <a:spcPct val="150000"/>
              </a:lnSpc>
            </a:pPr>
            <a:r>
              <a:rPr lang="en-US" sz="1600" dirty="0" err="1"/>
              <a:t>Agro</a:t>
            </a:r>
            <a:r>
              <a:rPr lang="en-US" sz="1600" dirty="0"/>
              <a:t> business and supply chain companies - to find seasonal yield and pricing trends</a:t>
            </a:r>
          </a:p>
          <a:p>
            <a:pPr algn="just">
              <a:lnSpc>
                <a:spcPct val="150000"/>
              </a:lnSpc>
            </a:pPr>
            <a:r>
              <a:rPr lang="en-US" sz="1600" dirty="0"/>
              <a:t>Researchers and students - studying seasonal agricultural patterns</a:t>
            </a:r>
          </a:p>
          <a:p>
            <a:pPr algn="just">
              <a:lnSpc>
                <a:spcPct val="150000"/>
              </a:lnSpc>
            </a:pPr>
            <a:r>
              <a:rPr lang="en-US" sz="1600" dirty="0"/>
              <a:t>Financial institutions - for finding seasonal risk in crop insurance and loans</a:t>
            </a:r>
            <a:endParaRPr lang="en-IN" sz="1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a:t>
            </a:r>
          </a:p>
          <a:p>
            <a:pPr lvl="1">
              <a:lnSpc>
                <a:spcPct val="150000"/>
              </a:lnSpc>
            </a:pPr>
            <a:r>
              <a:rPr lang="en-IN" dirty="0"/>
              <a:t>Pandas &amp; NumPy (data cleaning and analysis)</a:t>
            </a:r>
          </a:p>
          <a:p>
            <a:pPr lvl="1">
              <a:lnSpc>
                <a:spcPct val="150000"/>
              </a:lnSpc>
            </a:pPr>
            <a:r>
              <a:rPr lang="en-IN" dirty="0"/>
              <a:t>Matplotlib &amp; Seaborn (data visualization)</a:t>
            </a:r>
          </a:p>
          <a:p>
            <a:pPr lvl="1">
              <a:lnSpc>
                <a:spcPct val="150000"/>
              </a:lnSpc>
            </a:pPr>
            <a:r>
              <a:rPr lang="en-IN" dirty="0"/>
              <a:t>Google </a:t>
            </a:r>
            <a:r>
              <a:rPr lang="en-IN" dirty="0" err="1"/>
              <a:t>Colab</a:t>
            </a:r>
            <a:r>
              <a:rPr lang="en-IN" dirty="0"/>
              <a:t> </a:t>
            </a:r>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185176B-04B7-EDF8-B9F5-D498EBDE187D}"/>
              </a:ext>
            </a:extLst>
          </p:cNvPr>
          <p:cNvPicPr>
            <a:picLocks noChangeAspect="1"/>
          </p:cNvPicPr>
          <p:nvPr/>
        </p:nvPicPr>
        <p:blipFill>
          <a:blip r:embed="rId3"/>
          <a:stretch>
            <a:fillRect/>
          </a:stretch>
        </p:blipFill>
        <p:spPr>
          <a:xfrm>
            <a:off x="222988" y="1352073"/>
            <a:ext cx="4901103" cy="4091196"/>
          </a:xfrm>
          <a:prstGeom prst="rect">
            <a:avLst/>
          </a:prstGeom>
        </p:spPr>
      </p:pic>
      <p:pic>
        <p:nvPicPr>
          <p:cNvPr id="6" name="Picture 5">
            <a:extLst>
              <a:ext uri="{FF2B5EF4-FFF2-40B4-BE49-F238E27FC236}">
                <a16:creationId xmlns:a16="http://schemas.microsoft.com/office/drawing/2014/main" id="{571B6A62-0761-0C94-AC49-58E09B6AB804}"/>
              </a:ext>
            </a:extLst>
          </p:cNvPr>
          <p:cNvPicPr>
            <a:picLocks noChangeAspect="1"/>
          </p:cNvPicPr>
          <p:nvPr/>
        </p:nvPicPr>
        <p:blipFill>
          <a:blip r:embed="rId4"/>
          <a:stretch>
            <a:fillRect/>
          </a:stretch>
        </p:blipFill>
        <p:spPr>
          <a:xfrm>
            <a:off x="5374257" y="1275371"/>
            <a:ext cx="5142299" cy="416789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9D598C85-6C90-6A3D-D591-6C5EA2DD7E83}"/>
              </a:ext>
            </a:extLst>
          </p:cNvPr>
          <p:cNvPicPr>
            <a:picLocks noChangeAspect="1"/>
          </p:cNvPicPr>
          <p:nvPr/>
        </p:nvPicPr>
        <p:blipFill>
          <a:blip r:embed="rId3"/>
          <a:stretch>
            <a:fillRect/>
          </a:stretch>
        </p:blipFill>
        <p:spPr>
          <a:xfrm>
            <a:off x="146649" y="1275371"/>
            <a:ext cx="5762445" cy="4374931"/>
          </a:xfrm>
          <a:prstGeom prst="rect">
            <a:avLst/>
          </a:prstGeom>
        </p:spPr>
      </p:pic>
      <p:pic>
        <p:nvPicPr>
          <p:cNvPr id="6" name="Picture 5">
            <a:extLst>
              <a:ext uri="{FF2B5EF4-FFF2-40B4-BE49-F238E27FC236}">
                <a16:creationId xmlns:a16="http://schemas.microsoft.com/office/drawing/2014/main" id="{CA7EA2D7-EFA9-2F72-EA83-FB0762E71386}"/>
              </a:ext>
            </a:extLst>
          </p:cNvPr>
          <p:cNvPicPr>
            <a:picLocks noChangeAspect="1"/>
          </p:cNvPicPr>
          <p:nvPr/>
        </p:nvPicPr>
        <p:blipFill>
          <a:blip r:embed="rId4"/>
          <a:stretch>
            <a:fillRect/>
          </a:stretch>
        </p:blipFill>
        <p:spPr>
          <a:xfrm>
            <a:off x="6017474" y="1086928"/>
            <a:ext cx="5940885" cy="456337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E064AB03-BA3D-00BE-84A4-3B391576E9BA}"/>
              </a:ext>
            </a:extLst>
          </p:cNvPr>
          <p:cNvPicPr>
            <a:picLocks noChangeAspect="1"/>
          </p:cNvPicPr>
          <p:nvPr/>
        </p:nvPicPr>
        <p:blipFill>
          <a:blip r:embed="rId3"/>
          <a:stretch>
            <a:fillRect/>
          </a:stretch>
        </p:blipFill>
        <p:spPr>
          <a:xfrm>
            <a:off x="112287" y="1431693"/>
            <a:ext cx="5701917" cy="4583076"/>
          </a:xfrm>
          <a:prstGeom prst="rect">
            <a:avLst/>
          </a:prstGeom>
        </p:spPr>
      </p:pic>
      <p:pic>
        <p:nvPicPr>
          <p:cNvPr id="6" name="Picture 5">
            <a:extLst>
              <a:ext uri="{FF2B5EF4-FFF2-40B4-BE49-F238E27FC236}">
                <a16:creationId xmlns:a16="http://schemas.microsoft.com/office/drawing/2014/main" id="{07B962A2-82A8-2B79-3D0D-3D77F2CED5E7}"/>
              </a:ext>
            </a:extLst>
          </p:cNvPr>
          <p:cNvPicPr>
            <a:picLocks noChangeAspect="1"/>
          </p:cNvPicPr>
          <p:nvPr/>
        </p:nvPicPr>
        <p:blipFill>
          <a:blip r:embed="rId4"/>
          <a:stretch>
            <a:fillRect/>
          </a:stretch>
        </p:blipFill>
        <p:spPr>
          <a:xfrm>
            <a:off x="5943576" y="1364091"/>
            <a:ext cx="5823549" cy="437998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D636B643-3349-8C36-7B25-2322A6E0DFC4}"/>
              </a:ext>
            </a:extLst>
          </p:cNvPr>
          <p:cNvPicPr>
            <a:picLocks noChangeAspect="1"/>
          </p:cNvPicPr>
          <p:nvPr/>
        </p:nvPicPr>
        <p:blipFill>
          <a:blip r:embed="rId3"/>
          <a:stretch>
            <a:fillRect/>
          </a:stretch>
        </p:blipFill>
        <p:spPr>
          <a:xfrm>
            <a:off x="404363" y="1275371"/>
            <a:ext cx="9154783" cy="364118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9B5B159E-7859-2778-4DB3-6E32C1F4F754}"/>
              </a:ext>
            </a:extLst>
          </p:cNvPr>
          <p:cNvPicPr>
            <a:picLocks noChangeAspect="1"/>
          </p:cNvPicPr>
          <p:nvPr/>
        </p:nvPicPr>
        <p:blipFill>
          <a:blip r:embed="rId3"/>
          <a:stretch>
            <a:fillRect/>
          </a:stretch>
        </p:blipFill>
        <p:spPr>
          <a:xfrm>
            <a:off x="197108" y="1275371"/>
            <a:ext cx="5642976" cy="4650976"/>
          </a:xfrm>
          <a:prstGeom prst="rect">
            <a:avLst/>
          </a:prstGeom>
        </p:spPr>
      </p:pic>
      <p:pic>
        <p:nvPicPr>
          <p:cNvPr id="3" name="Picture 2">
            <a:extLst>
              <a:ext uri="{FF2B5EF4-FFF2-40B4-BE49-F238E27FC236}">
                <a16:creationId xmlns:a16="http://schemas.microsoft.com/office/drawing/2014/main" id="{B174A9D1-F88E-956F-2240-0FF5FA1DE8D2}"/>
              </a:ext>
            </a:extLst>
          </p:cNvPr>
          <p:cNvPicPr>
            <a:picLocks noChangeAspect="1"/>
          </p:cNvPicPr>
          <p:nvPr/>
        </p:nvPicPr>
        <p:blipFill>
          <a:blip r:embed="rId4"/>
          <a:stretch>
            <a:fillRect/>
          </a:stretch>
        </p:blipFill>
        <p:spPr>
          <a:xfrm>
            <a:off x="5963958" y="1378029"/>
            <a:ext cx="6005444" cy="410194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4E883-1803-9788-1EE6-B8FC492C30C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AEAA515-6FFA-C269-0E58-1EF3FBABAAF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5363AF7-7D1C-DFED-8E16-5E995BFDF80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A2BA7FF-42BF-E957-3714-B6655F31C6E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57A99B6-967D-29FB-CD02-0093CE552B0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69E5BD3-62C6-4ECF-B348-BC9BE77CC8C4}"/>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9061CCD6-B87D-4CCF-AB7F-AAD8A2B0D4AF}"/>
              </a:ext>
            </a:extLst>
          </p:cNvPr>
          <p:cNvPicPr>
            <a:picLocks noChangeAspect="1"/>
          </p:cNvPicPr>
          <p:nvPr/>
        </p:nvPicPr>
        <p:blipFill>
          <a:blip r:embed="rId3"/>
          <a:stretch>
            <a:fillRect/>
          </a:stretch>
        </p:blipFill>
        <p:spPr>
          <a:xfrm>
            <a:off x="320982" y="1201586"/>
            <a:ext cx="9539010" cy="4871410"/>
          </a:xfrm>
          <a:prstGeom prst="rect">
            <a:avLst/>
          </a:prstGeom>
        </p:spPr>
      </p:pic>
    </p:spTree>
    <p:extLst>
      <p:ext uri="{BB962C8B-B14F-4D97-AF65-F5344CB8AC3E}">
        <p14:creationId xmlns:p14="http://schemas.microsoft.com/office/powerpoint/2010/main" val="2538416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C792FF48-3709-80CB-AA12-ADE7E6E3168B}"/>
              </a:ext>
            </a:extLst>
          </p:cNvPr>
          <p:cNvSpPr txBox="1"/>
          <p:nvPr/>
        </p:nvSpPr>
        <p:spPr>
          <a:xfrm>
            <a:off x="320982" y="2279151"/>
            <a:ext cx="7063229" cy="2308324"/>
          </a:xfrm>
          <a:prstGeom prst="rect">
            <a:avLst/>
          </a:prstGeom>
          <a:noFill/>
        </p:spPr>
        <p:txBody>
          <a:bodyPr wrap="square">
            <a:spAutoFit/>
          </a:bodyPr>
          <a:lstStyle/>
          <a:p>
            <a:pPr marL="285750" indent="-285750">
              <a:buFont typeface="Arial" panose="020B0604020202020204" pitchFamily="34" charset="0"/>
              <a:buChar char="•"/>
            </a:pPr>
            <a:r>
              <a:rPr lang="en-IN" dirty="0"/>
              <a:t>Extend analysis with multi year data to study long-term seasonal trend</a:t>
            </a:r>
          </a:p>
          <a:p>
            <a:pPr marL="285750" indent="-285750">
              <a:buFont typeface="Arial" panose="020B0604020202020204" pitchFamily="34" charset="0"/>
              <a:buChar char="•"/>
            </a:pPr>
            <a:r>
              <a:rPr lang="en-IN" dirty="0"/>
              <a:t>Build a predictive model  to forecast yield and profit based on seasonal conditions</a:t>
            </a:r>
          </a:p>
          <a:p>
            <a:pPr marL="285750" indent="-285750">
              <a:buFont typeface="Arial" panose="020B0604020202020204" pitchFamily="34" charset="0"/>
              <a:buChar char="•"/>
            </a:pPr>
            <a:r>
              <a:rPr lang="en-IN" dirty="0"/>
              <a:t>Real time weather and market price data for dynamic recommendations</a:t>
            </a:r>
          </a:p>
          <a:p>
            <a:pPr marL="285750" indent="-285750">
              <a:buFont typeface="Arial" panose="020B0604020202020204" pitchFamily="34" charset="0"/>
              <a:buChar char="•"/>
            </a:pPr>
            <a:r>
              <a:rPr lang="en-IN" dirty="0"/>
              <a:t>Develop a dashboard for farmers to get season-wise crop planning suggestions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hlinkClick r:id="rId3"/>
              </a:rPr>
              <a:t>https://github.com/shrishtymaheshwari-afk/seasonal-agriculture-performance-analysis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8E90F1FE-BC13-76F1-C667-015AAE36B347}"/>
              </a:ext>
            </a:extLst>
          </p:cNvPr>
          <p:cNvPicPr>
            <a:picLocks noChangeAspect="1"/>
          </p:cNvPicPr>
          <p:nvPr/>
        </p:nvPicPr>
        <p:blipFill>
          <a:blip r:embed="rId3"/>
          <a:stretch>
            <a:fillRect/>
          </a:stretch>
        </p:blipFill>
        <p:spPr>
          <a:xfrm>
            <a:off x="437067" y="1509623"/>
            <a:ext cx="8090391" cy="525878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3813</TotalTime>
  <Words>402</Words>
  <Application>Microsoft Office PowerPoint</Application>
  <PresentationFormat>Widescreen</PresentationFormat>
  <Paragraphs>40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This project analyze seasonal agriculture performance dataset containing 4,000 farm records  covering environmental conditions, resource usage, and economic outcomes.  The goal is to identify how agricultural performance, yield, production, profit, and resource efficiency varies across the Kharif, Rabi, and Zaid seasons.  Using Python the dataset was cleaned, explored, and analyzed through season-wise comparisons, correlation analysis, and statistical techniques to form meaningful patterns and derive recommendations for better seasonal agricultural planning.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shrishty maheahwari</cp:lastModifiedBy>
  <cp:revision>100</cp:revision>
  <dcterms:created xsi:type="dcterms:W3CDTF">2021-07-11T13:13:15Z</dcterms:created>
  <dcterms:modified xsi:type="dcterms:W3CDTF">2026-09-07T04:22:22Z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